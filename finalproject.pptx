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2" r:id="rId5"/>
    <p:sldId id="263" r:id="rId6"/>
    <p:sldId id="264" r:id="rId7"/>
    <p:sldId id="259" r:id="rId8"/>
    <p:sldId id="270" r:id="rId9"/>
    <p:sldId id="269" r:id="rId10"/>
  </p:sldIdLst>
  <p:sldSz cx="9144000" cy="6858000" type="screen4x3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jmihMLrrBZE8aYcezI03h6WiDJ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E2F3FE-55F5-425B-951C-FAA32BFA66B2}" v="15" dt="2026-06-24T16:54:12.8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315" autoAdjust="0"/>
    <p:restoredTop sz="94660"/>
  </p:normalViewPr>
  <p:slideViewPr>
    <p:cSldViewPr snapToGrid="0">
      <p:cViewPr>
        <p:scale>
          <a:sx n="75" d="100"/>
          <a:sy n="75" d="100"/>
        </p:scale>
        <p:origin x="1219" y="120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20884616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0"/>
          <p:cNvSpPr txBox="1">
            <a:spLocks noGrp="1"/>
          </p:cNvSpPr>
          <p:nvPr>
            <p:ph type="title"/>
          </p:nvPr>
        </p:nvSpPr>
        <p:spPr>
          <a:xfrm>
            <a:off x="2540635" y="403351"/>
            <a:ext cx="4675505" cy="717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body" idx="1"/>
          </p:nvPr>
        </p:nvSpPr>
        <p:spPr>
          <a:xfrm>
            <a:off x="4186809" y="3302679"/>
            <a:ext cx="3864609" cy="250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0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subTitle" idx="1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>
            <a:spLocks noGrp="1"/>
          </p:cNvSpPr>
          <p:nvPr>
            <p:ph type="title"/>
          </p:nvPr>
        </p:nvSpPr>
        <p:spPr>
          <a:xfrm>
            <a:off x="2540635" y="403351"/>
            <a:ext cx="4675505" cy="717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body" idx="1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body" idx="2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3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0"/>
            <a:ext cx="9144000" cy="685799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9"/>
          <p:cNvSpPr txBox="1">
            <a:spLocks noGrp="1"/>
          </p:cNvSpPr>
          <p:nvPr>
            <p:ph type="title"/>
          </p:nvPr>
        </p:nvSpPr>
        <p:spPr>
          <a:xfrm>
            <a:off x="2540635" y="403351"/>
            <a:ext cx="4675505" cy="717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body" idx="1"/>
          </p:nvPr>
        </p:nvSpPr>
        <p:spPr>
          <a:xfrm>
            <a:off x="4186809" y="3302679"/>
            <a:ext cx="3864609" cy="250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" name="Google Shape;15;p9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oogle Shape;48;p1"/>
          <p:cNvGrpSpPr/>
          <p:nvPr/>
        </p:nvGrpSpPr>
        <p:grpSpPr>
          <a:xfrm>
            <a:off x="-735117" y="2"/>
            <a:ext cx="3067050" cy="6857998"/>
            <a:chOff x="0" y="0"/>
            <a:chExt cx="3067050" cy="6857998"/>
          </a:xfrm>
        </p:grpSpPr>
        <p:pic>
          <p:nvPicPr>
            <p:cNvPr id="49" name="Google Shape;49;p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0"/>
              <a:ext cx="3067050" cy="68579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" name="Google Shape;50;p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524000" y="1338452"/>
              <a:ext cx="1479041" cy="1389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" name="Google Shape;51;p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81000" y="4495812"/>
              <a:ext cx="1479041" cy="184137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2" name="Google Shape;52;p1"/>
          <p:cNvSpPr txBox="1">
            <a:spLocks noGrp="1"/>
          </p:cNvSpPr>
          <p:nvPr>
            <p:ph type="title"/>
          </p:nvPr>
        </p:nvSpPr>
        <p:spPr>
          <a:xfrm>
            <a:off x="2918977" y="1670097"/>
            <a:ext cx="5955958" cy="875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algn="ctr"/>
            <a:r>
              <a:rPr lang="en-US" sz="2800" dirty="0"/>
              <a:t>TRAFFIC MONITORING USING UAV AERIAL IMAGES</a:t>
            </a:r>
          </a:p>
        </p:txBody>
      </p:sp>
      <p:sp>
        <p:nvSpPr>
          <p:cNvPr id="53" name="Google Shape;53;p1"/>
          <p:cNvSpPr txBox="1">
            <a:spLocks noGrp="1"/>
          </p:cNvSpPr>
          <p:nvPr>
            <p:ph type="body" idx="1"/>
          </p:nvPr>
        </p:nvSpPr>
        <p:spPr>
          <a:xfrm>
            <a:off x="5006339" y="3530963"/>
            <a:ext cx="5257801" cy="1286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600" rIns="0" bIns="0" anchor="t" anchorCtr="0">
            <a:spAutoFit/>
          </a:bodyPr>
          <a:lstStyle/>
          <a:p>
            <a:pPr marL="688975" marR="618490" lvl="0" indent="-6540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Team Members:</a:t>
            </a:r>
            <a:endParaRPr dirty="0"/>
          </a:p>
          <a:p>
            <a:pPr marL="688975" marR="618490" lvl="0" indent="-6540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/>
              <a:t>PRADAKSHINA B (23CSR159)</a:t>
            </a:r>
          </a:p>
          <a:p>
            <a:pPr marL="688975" marR="618490" lvl="0" indent="-6540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/>
              <a:t>PRAHADHEESH S(23CSR160)</a:t>
            </a:r>
          </a:p>
          <a:p>
            <a:pPr marL="688975" marR="618490" lvl="0" indent="-6540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/>
              <a:t>RAGAVI R(23CSR170)</a:t>
            </a:r>
            <a:endParaRPr b="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" name="Google Shape;54;p1"/>
          <p:cNvSpPr txBox="1"/>
          <p:nvPr/>
        </p:nvSpPr>
        <p:spPr>
          <a:xfrm>
            <a:off x="2918977" y="640716"/>
            <a:ext cx="6312310" cy="38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22CSP72 – PROJECT WORK II  PHASE II </a:t>
            </a:r>
            <a:endParaRPr sz="2400" b="1" i="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4453466" y="1101213"/>
            <a:ext cx="5236209" cy="41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Zeroth </a:t>
            </a:r>
            <a:r>
              <a:rPr lang="en-US" sz="2600" b="1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</a:t>
            </a:r>
            <a:endParaRPr sz="2600" b="1" i="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5612128" y="4558895"/>
            <a:ext cx="5236209" cy="629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/>
            <a:br>
              <a:rPr lang="en-IN" sz="2000" b="1" spc="-10" dirty="0">
                <a:latin typeface="Times New Roman"/>
                <a:cs typeface="Times New Roman"/>
              </a:rPr>
            </a:br>
            <a:r>
              <a:rPr lang="en-US" sz="2000" b="1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Date:25.06.2026</a:t>
            </a:r>
            <a:endParaRPr sz="2000" b="0" i="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1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C22B79-C6DA-2687-07DA-DEE7BA722688}"/>
              </a:ext>
            </a:extLst>
          </p:cNvPr>
          <p:cNvSpPr txBox="1"/>
          <p:nvPr/>
        </p:nvSpPr>
        <p:spPr>
          <a:xfrm>
            <a:off x="2459353" y="5973648"/>
            <a:ext cx="57708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lvl="0"/>
            <a:r>
              <a:rPr lang="en-IN" sz="1600" b="1" spc="-10" dirty="0">
                <a:latin typeface="Times New Roman"/>
                <a:cs typeface="Times New Roman"/>
              </a:rPr>
              <a:t>MENTOR : Ms S MOHANAPRIYA </a:t>
            </a:r>
          </a:p>
          <a:p>
            <a:pPr marL="12700" lvl="0"/>
            <a:r>
              <a:rPr lang="en-IN" sz="1600" b="1" i="0" spc="-1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</a:t>
            </a:r>
            <a:r>
              <a:rPr lang="en-IN" sz="1600" b="1" i="0" spc="-1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IN" sz="1600" b="1" spc="-1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ssisstant</a:t>
            </a:r>
            <a:r>
              <a:rPr lang="en-IN" sz="1600" b="1" spc="-1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Professor [SRG] / CSE</a:t>
            </a:r>
            <a:endParaRPr lang="en-IN" sz="1600" b="0" i="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1497460" y="1097570"/>
            <a:ext cx="3454065" cy="126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FF0000"/>
                </a:solidFill>
              </a:rPr>
              <a:t>Problem Statement</a:t>
            </a:r>
            <a:br>
              <a:rPr lang="en-US" dirty="0">
                <a:solidFill>
                  <a:srgbClr val="FF0000"/>
                </a:solidFill>
              </a:rPr>
            </a:b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4" name="Google Shape;53;p1"/>
          <p:cNvSpPr txBox="1">
            <a:spLocks noGrp="1"/>
          </p:cNvSpPr>
          <p:nvPr>
            <p:ph type="body" idx="1"/>
          </p:nvPr>
        </p:nvSpPr>
        <p:spPr>
          <a:xfrm>
            <a:off x="1285272" y="1931405"/>
            <a:ext cx="8006211" cy="2825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600" rIns="0" bIns="0" anchor="t" anchorCtr="0">
            <a:spAutoFit/>
          </a:bodyPr>
          <a:lstStyle/>
          <a:p>
            <a:pPr marL="5715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dirty="0"/>
              <a:t>UAV images contain very small objects. </a:t>
            </a:r>
          </a:p>
          <a:p>
            <a:pPr marL="5715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dirty="0"/>
              <a:t>Objects are densely distributed. </a:t>
            </a:r>
          </a:p>
          <a:p>
            <a:pPr marL="5715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dirty="0"/>
              <a:t>Complex backgrounds affect detection accuracy. </a:t>
            </a:r>
          </a:p>
          <a:p>
            <a:pPr marL="5715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dirty="0"/>
              <a:t>CNNs lose small-object details during </a:t>
            </a:r>
            <a:r>
              <a:rPr lang="en-IN" b="0" dirty="0" err="1"/>
              <a:t>downsampling</a:t>
            </a:r>
            <a:r>
              <a:rPr lang="en-IN" b="0" dirty="0"/>
              <a:t>. </a:t>
            </a:r>
          </a:p>
          <a:p>
            <a:pPr marL="5715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dirty="0"/>
              <a:t>Transformers are computationally expensive. </a:t>
            </a:r>
          </a:p>
          <a:p>
            <a:pPr marL="5715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dirty="0"/>
              <a:t>Need a fast and accurate UAV object detector.</a:t>
            </a:r>
            <a:endParaRPr lang="en-US" b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1363175" y="528854"/>
            <a:ext cx="4068634" cy="77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/>
            <a:r>
              <a:rPr lang="en-IN" sz="3600" dirty="0">
                <a:solidFill>
                  <a:srgbClr val="FF0000"/>
                </a:solidFill>
              </a:rPr>
              <a:t>Literature Survey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4" name="Google Shape;53;p1"/>
          <p:cNvSpPr txBox="1">
            <a:spLocks noGrp="1"/>
          </p:cNvSpPr>
          <p:nvPr>
            <p:ph type="body" idx="1"/>
          </p:nvPr>
        </p:nvSpPr>
        <p:spPr>
          <a:xfrm>
            <a:off x="1168795" y="1382281"/>
            <a:ext cx="8275899" cy="482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600" rIns="0" bIns="0" anchor="t" anchorCtr="0">
            <a:spAutoFit/>
          </a:bodyPr>
          <a:lstStyle/>
          <a:p>
            <a:r>
              <a:rPr lang="en-IN" dirty="0" err="1"/>
              <a:t>UAVDet</a:t>
            </a:r>
            <a:endParaRPr lang="en-IN" dirty="0"/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N" b="0" dirty="0"/>
              <a:t>CNN + Mamba hybrid architecture. 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N" b="0" dirty="0"/>
              <a:t>Uses CSPMB and TFPN modules. 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N" b="0" dirty="0"/>
              <a:t>Improves small-object detection. 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endParaRPr lang="en-IN" b="0" dirty="0"/>
          </a:p>
          <a:p>
            <a:r>
              <a:rPr lang="en-IN" dirty="0"/>
              <a:t>YOLO11s-UAV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N" b="0" dirty="0"/>
              <a:t>Uses CARIFPN and </a:t>
            </a:r>
            <a:r>
              <a:rPr lang="en-IN" b="0" dirty="0" err="1"/>
              <a:t>FlexSimAM</a:t>
            </a:r>
            <a:r>
              <a:rPr lang="en-IN" b="0" dirty="0"/>
              <a:t>. 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N" b="0" dirty="0"/>
              <a:t>Enhances feature extraction. 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N" b="0" dirty="0"/>
              <a:t>Lightweight YOLO-based model. </a:t>
            </a:r>
          </a:p>
          <a:p>
            <a:pPr marL="228600" indent="0"/>
            <a:endParaRPr lang="en-IN" b="0" dirty="0"/>
          </a:p>
          <a:p>
            <a:r>
              <a:rPr lang="en-IN" dirty="0"/>
              <a:t>SAMYOLO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N" b="0" dirty="0"/>
              <a:t>Combines Super-Resolution and Mamba. 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N" b="0" dirty="0"/>
              <a:t>Improves feature representation. 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N" b="0" dirty="0"/>
              <a:t>Higher computational cost.</a:t>
            </a:r>
          </a:p>
          <a:p>
            <a:pPr marL="571500" indent="-342900">
              <a:lnSpc>
                <a:spcPct val="150000"/>
              </a:lnSpc>
              <a:buFont typeface="Arial" pitchFamily="34" charset="0"/>
              <a:buChar char="•"/>
            </a:pP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624547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1546424" y="652477"/>
            <a:ext cx="4961783" cy="71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/>
            <a:r>
              <a:rPr lang="en-IN" dirty="0">
                <a:solidFill>
                  <a:srgbClr val="FF0000"/>
                </a:solidFill>
              </a:rPr>
              <a:t>Literature Survey</a:t>
            </a:r>
            <a:endParaRPr dirty="0"/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68B094-5E91-E61D-6DC2-BE2935987DCE}"/>
              </a:ext>
            </a:extLst>
          </p:cNvPr>
          <p:cNvSpPr txBox="1"/>
          <p:nvPr/>
        </p:nvSpPr>
        <p:spPr>
          <a:xfrm>
            <a:off x="1546424" y="1727104"/>
            <a:ext cx="4572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MFFSODNet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70000"/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multiscale feature fusion. </a:t>
            </a:r>
          </a:p>
          <a:p>
            <a:pPr marL="342900" indent="-342900">
              <a:buSzPct val="70000"/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Adds tiny-object detection head. </a:t>
            </a:r>
          </a:p>
          <a:p>
            <a:pPr marL="342900" indent="-342900">
              <a:buSzPct val="70000"/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Pure CNN architecture.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SRTSOD-YOLO</a:t>
            </a:r>
          </a:p>
          <a:p>
            <a:pPr marL="342900" indent="-342900">
              <a:buSzPct val="70000"/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attention and feature fusion. </a:t>
            </a:r>
          </a:p>
          <a:p>
            <a:pPr marL="342900" indent="-342900">
              <a:buSzPct val="70000"/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detection accuracy. </a:t>
            </a:r>
          </a:p>
          <a:p>
            <a:pPr marL="342900" indent="-342900">
              <a:buSzPct val="70000"/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complex architecture.</a:t>
            </a:r>
          </a:p>
        </p:txBody>
      </p:sp>
    </p:spTree>
    <p:extLst>
      <p:ext uri="{BB962C8B-B14F-4D97-AF65-F5344CB8AC3E}">
        <p14:creationId xmlns:p14="http://schemas.microsoft.com/office/powerpoint/2010/main" val="1412364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1572064" y="719516"/>
            <a:ext cx="3098259" cy="1327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/>
            <a:r>
              <a:rPr lang="en-IN" sz="3600" dirty="0">
                <a:solidFill>
                  <a:srgbClr val="FF0000"/>
                </a:solidFill>
              </a:rPr>
              <a:t>Research Gap</a:t>
            </a:r>
            <a:br>
              <a:rPr lang="en-IN" sz="3600" dirty="0">
                <a:solidFill>
                  <a:srgbClr val="FF0000"/>
                </a:solidFill>
              </a:rPr>
            </a:b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4" name="Google Shape;53;p1"/>
          <p:cNvSpPr txBox="1">
            <a:spLocks noGrp="1"/>
          </p:cNvSpPr>
          <p:nvPr>
            <p:ph type="body" idx="1"/>
          </p:nvPr>
        </p:nvSpPr>
        <p:spPr>
          <a:xfrm>
            <a:off x="1395083" y="1681549"/>
            <a:ext cx="8563183" cy="2825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600" rIns="0" bIns="0" anchor="t" anchorCtr="0">
            <a:spAutoFit/>
          </a:bodyPr>
          <a:lstStyle/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dirty="0"/>
              <a:t>Existing methods mainly use CNNs and attention. 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dirty="0"/>
              <a:t>Limited global context understanding. 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dirty="0"/>
              <a:t>Small-object features are often lost. 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dirty="0"/>
              <a:t>Transformer models are expensive. 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dirty="0"/>
              <a:t>Need better accuracy with real-time speed. 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b="0" dirty="0"/>
          </a:p>
        </p:txBody>
      </p:sp>
    </p:spTree>
    <p:extLst>
      <p:ext uri="{BB962C8B-B14F-4D97-AF65-F5344CB8AC3E}">
        <p14:creationId xmlns:p14="http://schemas.microsoft.com/office/powerpoint/2010/main" val="2084557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1261289" y="1200725"/>
            <a:ext cx="5158553" cy="71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/>
            <a:r>
              <a:rPr lang="en-IN" dirty="0">
                <a:solidFill>
                  <a:srgbClr val="FF0000"/>
                </a:solidFill>
              </a:rPr>
              <a:t>Objectives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97F38C-8ED7-6C6A-73C5-187B6FE90C3D}"/>
              </a:ext>
            </a:extLst>
          </p:cNvPr>
          <p:cNvSpPr txBox="1"/>
          <p:nvPr/>
        </p:nvSpPr>
        <p:spPr>
          <a:xfrm>
            <a:off x="1172798" y="1912186"/>
            <a:ext cx="5825613" cy="2345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SzPct val="70000"/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small-object detection accuracy. </a:t>
            </a:r>
          </a:p>
          <a:p>
            <a:pPr marL="342900" indent="-342900">
              <a:lnSpc>
                <a:spcPct val="150000"/>
              </a:lnSpc>
              <a:buSzPct val="70000"/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Preserve fine-grained object features. </a:t>
            </a:r>
          </a:p>
          <a:p>
            <a:pPr marL="342900" indent="-342900">
              <a:lnSpc>
                <a:spcPct val="150000"/>
              </a:lnSpc>
              <a:buSzPct val="70000"/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local and global information. </a:t>
            </a:r>
          </a:p>
          <a:p>
            <a:pPr marL="342900" indent="-342900">
              <a:lnSpc>
                <a:spcPct val="150000"/>
              </a:lnSpc>
              <a:buSzPct val="70000"/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computational complexity. </a:t>
            </a:r>
          </a:p>
          <a:p>
            <a:pPr marL="342900" indent="-342900">
              <a:lnSpc>
                <a:spcPct val="150000"/>
              </a:lnSpc>
              <a:buSzPct val="70000"/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 real-time UAV detection.</a:t>
            </a:r>
          </a:p>
        </p:txBody>
      </p:sp>
    </p:spTree>
    <p:extLst>
      <p:ext uri="{BB962C8B-B14F-4D97-AF65-F5344CB8AC3E}">
        <p14:creationId xmlns:p14="http://schemas.microsoft.com/office/powerpoint/2010/main" val="3460137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1331294" y="901591"/>
            <a:ext cx="6303946" cy="71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/>
            <a:r>
              <a:rPr lang="en-IN" dirty="0">
                <a:solidFill>
                  <a:srgbClr val="FF0000"/>
                </a:solidFill>
              </a:rPr>
              <a:t>Novelty (Base Paper)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4" name="Google Shape;53;p1"/>
          <p:cNvSpPr txBox="1">
            <a:spLocks noGrp="1"/>
          </p:cNvSpPr>
          <p:nvPr>
            <p:ph type="body" idx="1"/>
          </p:nvPr>
        </p:nvSpPr>
        <p:spPr>
          <a:xfrm>
            <a:off x="1140476" y="1180433"/>
            <a:ext cx="8714232" cy="3286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600" rIns="0" bIns="0" anchor="t" anchorCtr="0">
            <a:spAutoFit/>
          </a:bodyPr>
          <a:lstStyle/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b="0" dirty="0"/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dirty="0"/>
              <a:t>Combines CNN and Mamba. 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dirty="0"/>
              <a:t>Introduces CSPMB module. 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dirty="0"/>
              <a:t>Uses TFPN for tiny objects. 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dirty="0"/>
              <a:t>Reduces model parameters. 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dirty="0"/>
              <a:t>Achieves real-time performance. 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b="0" dirty="0"/>
          </a:p>
        </p:txBody>
      </p:sp>
    </p:spTree>
    <p:extLst>
      <p:ext uri="{BB962C8B-B14F-4D97-AF65-F5344CB8AC3E}">
        <p14:creationId xmlns:p14="http://schemas.microsoft.com/office/powerpoint/2010/main" val="1678992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1251456" y="986774"/>
            <a:ext cx="5994918" cy="71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Proposed Novelty (Our Work)</a:t>
            </a: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4" name="Google Shape;53;p1"/>
          <p:cNvSpPr txBox="1">
            <a:spLocks noGrp="1"/>
          </p:cNvSpPr>
          <p:nvPr>
            <p:ph type="body" idx="1"/>
          </p:nvPr>
        </p:nvSpPr>
        <p:spPr>
          <a:xfrm>
            <a:off x="1016978" y="1785606"/>
            <a:ext cx="8563183" cy="2363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600" rIns="0" bIns="0" anchor="t" anchorCtr="0">
            <a:spAutoFit/>
          </a:bodyPr>
          <a:lstStyle/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dirty="0"/>
              <a:t>Add Dynamic Attention to </a:t>
            </a:r>
            <a:r>
              <a:rPr lang="en-IN" b="0" dirty="0" err="1"/>
              <a:t>UAVDet</a:t>
            </a:r>
            <a:r>
              <a:rPr lang="en-IN" b="0" dirty="0"/>
              <a:t>. 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dirty="0"/>
              <a:t>Improve Multi-Scale Mamba Fusion. 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dirty="0"/>
              <a:t>Enhance tiny-object detection. 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dirty="0"/>
              <a:t>Reduce false detections. 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dirty="0"/>
              <a:t>Maintain real-time performance.</a:t>
            </a:r>
          </a:p>
        </p:txBody>
      </p:sp>
    </p:spTree>
    <p:extLst>
      <p:ext uri="{BB962C8B-B14F-4D97-AF65-F5344CB8AC3E}">
        <p14:creationId xmlns:p14="http://schemas.microsoft.com/office/powerpoint/2010/main" val="3656303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3209943" y="2854155"/>
            <a:ext cx="5158553" cy="71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/>
            <a:r>
              <a:rPr lang="en-IN" spc="-40" dirty="0"/>
              <a:t>THANK</a:t>
            </a:r>
            <a:r>
              <a:rPr lang="en-IN" spc="-190" dirty="0"/>
              <a:t> </a:t>
            </a:r>
            <a:r>
              <a:rPr lang="en-IN" spc="-20" dirty="0"/>
              <a:t>YOU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34909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300</Words>
  <Application>Microsoft Office PowerPoint</Application>
  <PresentationFormat>On-screen Show (4:3)</PresentationFormat>
  <Paragraphs>77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Office Theme</vt:lpstr>
      <vt:lpstr>TRAFFIC MONITORING USING UAV AERIAL IMAGES</vt:lpstr>
      <vt:lpstr>Problem Statement </vt:lpstr>
      <vt:lpstr>Literature Survey</vt:lpstr>
      <vt:lpstr>Literature Survey</vt:lpstr>
      <vt:lpstr>Research Gap </vt:lpstr>
      <vt:lpstr>Objectives</vt:lpstr>
      <vt:lpstr>Novelty (Base Paper)</vt:lpstr>
      <vt:lpstr>Proposed Novelty (Our Work)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Deployment of E-Commerce Web Application using Jenkins and Kubernetes</dc:title>
  <dc:creator>Bhobesh adhithiyan</dc:creator>
  <cp:lastModifiedBy>Ragavi R</cp:lastModifiedBy>
  <cp:revision>19</cp:revision>
  <dcterms:created xsi:type="dcterms:W3CDTF">2025-02-28T03:17:42Z</dcterms:created>
  <dcterms:modified xsi:type="dcterms:W3CDTF">2026-06-25T08:21:44Z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2025-02-28T00:00:00Z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2025-02-28T00:00:00Z</vt:filetime>
  </property>
  <property fmtid="{D5CDD505-2E9C-101B-9397-08002B2CF9AE}" pid="5" name="Producer">
    <vt:lpwstr>Microsoft® PowerPoint® 2021</vt:lpwstr>
  </property>
</Properties>
</file>